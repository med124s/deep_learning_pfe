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12"/>
  </p:notesMasterIdLst>
  <p:sldIdLst>
    <p:sldId id="256" r:id="rId2"/>
    <p:sldId id="257" r:id="rId3"/>
    <p:sldId id="305" r:id="rId4"/>
    <p:sldId id="282" r:id="rId5"/>
    <p:sldId id="306" r:id="rId6"/>
    <p:sldId id="307" r:id="rId7"/>
    <p:sldId id="312" r:id="rId8"/>
    <p:sldId id="313" r:id="rId9"/>
    <p:sldId id="308" r:id="rId10"/>
    <p:sldId id="314" r:id="rId11"/>
  </p:sldIdLst>
  <p:sldSz cx="9144000" cy="5143500" type="screen16x9"/>
  <p:notesSz cx="6858000" cy="9144000"/>
  <p:embeddedFontLst>
    <p:embeddedFont>
      <p:font typeface="Montserrat" panose="020B0604020202020204" charset="0"/>
      <p:regular r:id="rId13"/>
      <p:bold r:id="rId14"/>
      <p:italic r:id="rId15"/>
      <p:boldItalic r:id="rId16"/>
    </p:embeddedFont>
    <p:embeddedFont>
      <p:font typeface="Nunito Sans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D5B118-442E-461D-98EE-ABA032517C8D}">
  <a:tblStyle styleId="{80D5B118-442E-461D-98EE-ABA032517C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9429f0dfb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9429f0dfb6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9429f0dfb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9429f0dfb6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3846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97ea2a2b02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97ea2a2b02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97ea2a2b02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97ea2a2b02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2526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97ea2a2b02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97ea2a2b02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71408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97ea2a2b02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97ea2a2b02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54999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97ea2a2b02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97ea2a2b02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6901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97ea2a2b02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97ea2a2b02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81887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97ea2a2b02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97ea2a2b02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553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3737865"/>
            <a:ext cx="2288049" cy="1405603"/>
          </a:xfrm>
          <a:custGeom>
            <a:avLst/>
            <a:gdLst/>
            <a:ahLst/>
            <a:cxnLst/>
            <a:rect l="l" t="t" r="r" b="b"/>
            <a:pathLst>
              <a:path w="59830" h="36755" extrusionOk="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rot="-5400000">
            <a:off x="4035678" y="-601923"/>
            <a:ext cx="1199426" cy="2403326"/>
          </a:xfrm>
          <a:custGeom>
            <a:avLst/>
            <a:gdLst/>
            <a:ahLst/>
            <a:cxnLst/>
            <a:rect l="l" t="t" r="r" b="b"/>
            <a:pathLst>
              <a:path w="37804" h="75749" extrusionOk="0">
                <a:moveTo>
                  <a:pt x="37803" y="1"/>
                </a:moveTo>
                <a:cubicBezTo>
                  <a:pt x="16920" y="48"/>
                  <a:pt x="1" y="16979"/>
                  <a:pt x="1" y="37874"/>
                </a:cubicBezTo>
                <a:cubicBezTo>
                  <a:pt x="1" y="58770"/>
                  <a:pt x="16920" y="75712"/>
                  <a:pt x="37803" y="75748"/>
                </a:cubicBezTo>
                <a:lnTo>
                  <a:pt x="37803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100" y="744575"/>
            <a:ext cx="37764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13100" y="2797175"/>
            <a:ext cx="2286000" cy="7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783234" cy="783234"/>
          </a:xfrm>
          <a:custGeom>
            <a:avLst/>
            <a:gdLst/>
            <a:ahLst/>
            <a:cxnLst/>
            <a:rect l="l" t="t" r="r" b="b"/>
            <a:pathLst>
              <a:path w="47780" h="47780" extrusionOk="0">
                <a:moveTo>
                  <a:pt x="0" y="0"/>
                </a:moveTo>
                <a:lnTo>
                  <a:pt x="0" y="47780"/>
                </a:lnTo>
                <a:lnTo>
                  <a:pt x="9382" y="47780"/>
                </a:lnTo>
                <a:cubicBezTo>
                  <a:pt x="30587" y="47780"/>
                  <a:pt x="47780" y="30587"/>
                  <a:pt x="47780" y="9382"/>
                </a:cubicBezTo>
                <a:lnTo>
                  <a:pt x="4778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 flipH="1">
            <a:off x="7436601" y="4703625"/>
            <a:ext cx="1707399" cy="439865"/>
          </a:xfrm>
          <a:custGeom>
            <a:avLst/>
            <a:gdLst/>
            <a:ahLst/>
            <a:cxnLst/>
            <a:rect l="l" t="t" r="r" b="b"/>
            <a:pathLst>
              <a:path w="59830" h="36755" extrusionOk="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 rot="10800000">
            <a:off x="7731550" y="3731100"/>
            <a:ext cx="1412441" cy="1412411"/>
          </a:xfrm>
          <a:custGeom>
            <a:avLst/>
            <a:gdLst/>
            <a:ahLst/>
            <a:cxnLst/>
            <a:rect l="l" t="t" r="r" b="b"/>
            <a:pathLst>
              <a:path w="48079" h="48078" extrusionOk="0">
                <a:moveTo>
                  <a:pt x="1" y="0"/>
                </a:moveTo>
                <a:lnTo>
                  <a:pt x="1" y="48077"/>
                </a:lnTo>
                <a:lnTo>
                  <a:pt x="14562" y="48077"/>
                </a:lnTo>
                <a:cubicBezTo>
                  <a:pt x="33064" y="48077"/>
                  <a:pt x="48078" y="33064"/>
                  <a:pt x="48078" y="14561"/>
                </a:cubicBezTo>
                <a:lnTo>
                  <a:pt x="4807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/>
          <p:nvPr/>
        </p:nvSpPr>
        <p:spPr>
          <a:xfrm rot="10800000" flipH="1">
            <a:off x="6" y="0"/>
            <a:ext cx="2008044" cy="1233590"/>
          </a:xfrm>
          <a:custGeom>
            <a:avLst/>
            <a:gdLst/>
            <a:ahLst/>
            <a:cxnLst/>
            <a:rect l="l" t="t" r="r" b="b"/>
            <a:pathLst>
              <a:path w="59830" h="36755" extrusionOk="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713100" y="3999000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sz="2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sz="2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sz="2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sz="2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sz="2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sz="2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sz="2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sz="2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sz="2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●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○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■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●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○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■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●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○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■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6" r:id="rId3"/>
    <p:sldLayoutId id="2147483658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>
            <a:spLocks noGrp="1"/>
          </p:cNvSpPr>
          <p:nvPr>
            <p:ph type="ctrTitle"/>
          </p:nvPr>
        </p:nvSpPr>
        <p:spPr>
          <a:xfrm>
            <a:off x="126782" y="531627"/>
            <a:ext cx="4380614" cy="330894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fr-FR" sz="4000" dirty="0"/>
              <a:t>Prédiction des maladies cardiaques avec un réseau de neurones</a:t>
            </a:r>
          </a:p>
        </p:txBody>
      </p:sp>
      <p:pic>
        <p:nvPicPr>
          <p:cNvPr id="150" name="Google Shape;15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4"/>
          <p:cNvSpPr/>
          <p:nvPr/>
        </p:nvSpPr>
        <p:spPr>
          <a:xfrm rot="-5400000">
            <a:off x="4035678" y="-601923"/>
            <a:ext cx="1199426" cy="2403326"/>
          </a:xfrm>
          <a:custGeom>
            <a:avLst/>
            <a:gdLst/>
            <a:ahLst/>
            <a:cxnLst/>
            <a:rect l="l" t="t" r="r" b="b"/>
            <a:pathLst>
              <a:path w="37804" h="75749" extrusionOk="0">
                <a:moveTo>
                  <a:pt x="37803" y="1"/>
                </a:moveTo>
                <a:cubicBezTo>
                  <a:pt x="16920" y="48"/>
                  <a:pt x="1" y="16979"/>
                  <a:pt x="1" y="37874"/>
                </a:cubicBezTo>
                <a:cubicBezTo>
                  <a:pt x="1" y="58770"/>
                  <a:pt x="16920" y="75712"/>
                  <a:pt x="37803" y="75748"/>
                </a:cubicBezTo>
                <a:lnTo>
                  <a:pt x="37803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ZoneTexte 1"/>
          <p:cNvSpPr txBox="1"/>
          <p:nvPr/>
        </p:nvSpPr>
        <p:spPr>
          <a:xfrm>
            <a:off x="1948897" y="4034826"/>
            <a:ext cx="243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chemeClr val="tx1"/>
                </a:solidFill>
              </a:rPr>
              <a:t>Réaliser Par:</a:t>
            </a:r>
          </a:p>
          <a:p>
            <a:r>
              <a:rPr lang="fr-FR" sz="1800" b="1" dirty="0" smtClean="0">
                <a:solidFill>
                  <a:schemeClr val="tx1"/>
                </a:solidFill>
              </a:rPr>
              <a:t>Mohamed Ben-</a:t>
            </a:r>
            <a:r>
              <a:rPr lang="fr-FR" sz="1800" b="1" dirty="0" err="1" smtClean="0">
                <a:solidFill>
                  <a:schemeClr val="tx1"/>
                </a:solidFill>
              </a:rPr>
              <a:t>Yghil</a:t>
            </a:r>
            <a:endParaRPr lang="fr-FR" sz="1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>
            <a:spLocks noGrp="1"/>
          </p:cNvSpPr>
          <p:nvPr>
            <p:ph type="title"/>
          </p:nvPr>
        </p:nvSpPr>
        <p:spPr>
          <a:xfrm>
            <a:off x="713100" y="368824"/>
            <a:ext cx="7717800" cy="7015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Introduction</a:t>
            </a:r>
            <a:endParaRPr dirty="0"/>
          </a:p>
        </p:txBody>
      </p:sp>
      <p:sp>
        <p:nvSpPr>
          <p:cNvPr id="164" name="Google Shape;164;p25"/>
          <p:cNvSpPr txBox="1">
            <a:spLocks noGrp="1"/>
          </p:cNvSpPr>
          <p:nvPr>
            <p:ph type="body" idx="1"/>
          </p:nvPr>
        </p:nvSpPr>
        <p:spPr>
          <a:xfrm>
            <a:off x="713100" y="1138298"/>
            <a:ext cx="7717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400" b="1" dirty="0"/>
              <a:t>Problématique</a:t>
            </a:r>
            <a:r>
              <a:rPr lang="fr-FR" sz="2400" dirty="0"/>
              <a:t> : Les maladies cardiovasculaires sont l'une des premières causes de décès dans le monde</a:t>
            </a:r>
            <a:r>
              <a:rPr lang="fr-FR" sz="2400" dirty="0" smtClean="0"/>
              <a:t>.</a:t>
            </a:r>
          </a:p>
          <a:p>
            <a:pPr marL="139700" indent="0">
              <a:buNone/>
            </a:pPr>
            <a:endParaRPr lang="fr-FR" sz="2400" dirty="0"/>
          </a:p>
          <a:p>
            <a:r>
              <a:rPr lang="fr-FR" sz="2400" b="1" dirty="0"/>
              <a:t>Objectif</a:t>
            </a:r>
            <a:r>
              <a:rPr lang="fr-FR" sz="2400" dirty="0"/>
              <a:t> : Construire un modèle de </a:t>
            </a:r>
            <a:r>
              <a:rPr lang="fr-FR" sz="2400" dirty="0" err="1"/>
              <a:t>Deep</a:t>
            </a:r>
            <a:r>
              <a:rPr lang="fr-FR" sz="2400" dirty="0"/>
              <a:t> Learning capable de détecter les patients à risque</a:t>
            </a:r>
            <a:r>
              <a:rPr lang="fr-FR" sz="2400" dirty="0" smtClean="0"/>
              <a:t>.</a:t>
            </a:r>
          </a:p>
          <a:p>
            <a:pPr marL="139700" indent="0">
              <a:buNone/>
            </a:pPr>
            <a:endParaRPr lang="fr-FR" sz="2400" dirty="0"/>
          </a:p>
          <a:p>
            <a:r>
              <a:rPr lang="fr-FR" sz="2400" b="1" dirty="0"/>
              <a:t>Méthodologie</a:t>
            </a:r>
            <a:r>
              <a:rPr lang="fr-FR" sz="2400" dirty="0"/>
              <a:t> : Utilisation d'un réseau de neurones (ANN) pour une classification binaire.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>
            <a:spLocks noGrp="1"/>
          </p:cNvSpPr>
          <p:nvPr>
            <p:ph type="title"/>
          </p:nvPr>
        </p:nvSpPr>
        <p:spPr>
          <a:xfrm>
            <a:off x="713100" y="252481"/>
            <a:ext cx="7717800" cy="7015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 err="1"/>
              <a:t>Dataset</a:t>
            </a:r>
            <a:r>
              <a:rPr lang="fr-FR" dirty="0"/>
              <a:t> Utilisé</a:t>
            </a:r>
          </a:p>
        </p:txBody>
      </p:sp>
      <p:sp>
        <p:nvSpPr>
          <p:cNvPr id="164" name="Google Shape;164;p25"/>
          <p:cNvSpPr txBox="1">
            <a:spLocks noGrp="1"/>
          </p:cNvSpPr>
          <p:nvPr>
            <p:ph type="body" idx="1"/>
          </p:nvPr>
        </p:nvSpPr>
        <p:spPr>
          <a:xfrm>
            <a:off x="713100" y="954000"/>
            <a:ext cx="7717800" cy="37314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/>
              <a:t>Nom:</a:t>
            </a:r>
            <a:r>
              <a:rPr lang="en-US" sz="2000" dirty="0"/>
              <a:t> Cleveland Heart Disease Dataset</a:t>
            </a:r>
          </a:p>
          <a:p>
            <a:r>
              <a:rPr lang="en-US" sz="2000" b="1" dirty="0"/>
              <a:t>Source:</a:t>
            </a:r>
            <a:r>
              <a:rPr lang="en-US" sz="2000" dirty="0"/>
              <a:t> UCI Machine Learning </a:t>
            </a:r>
            <a:r>
              <a:rPr lang="en-US" sz="2000" dirty="0" smtClean="0"/>
              <a:t>Repository</a:t>
            </a:r>
          </a:p>
          <a:p>
            <a:endParaRPr lang="en-US" sz="2000" b="1" dirty="0" smtClean="0"/>
          </a:p>
          <a:p>
            <a:r>
              <a:rPr lang="en-US" sz="2000" b="1" dirty="0" err="1" smtClean="0"/>
              <a:t>Nombre</a:t>
            </a:r>
            <a:r>
              <a:rPr lang="en-US" sz="2000" b="1" dirty="0" smtClean="0"/>
              <a:t> </a:t>
            </a:r>
            <a:r>
              <a:rPr lang="en-US" sz="2000" b="1" dirty="0" err="1"/>
              <a:t>d’échantillons</a:t>
            </a:r>
            <a:r>
              <a:rPr lang="en-US" sz="2000" b="1" dirty="0"/>
              <a:t>:</a:t>
            </a:r>
            <a:r>
              <a:rPr lang="en-US" sz="2000" dirty="0"/>
              <a:t> 303</a:t>
            </a:r>
          </a:p>
          <a:p>
            <a:endParaRPr lang="fr-FR" sz="2000" b="1" dirty="0" smtClean="0"/>
          </a:p>
          <a:p>
            <a:r>
              <a:rPr lang="fr-FR" sz="2000" b="1" dirty="0" smtClean="0"/>
              <a:t>Caractéristiques </a:t>
            </a:r>
            <a:r>
              <a:rPr lang="fr-FR" sz="2000" b="1" dirty="0"/>
              <a:t>principales:</a:t>
            </a:r>
            <a:endParaRPr lang="fr-FR" sz="2000" dirty="0"/>
          </a:p>
          <a:p>
            <a:pPr lvl="1"/>
            <a:r>
              <a:rPr lang="fr-FR" sz="2000" dirty="0"/>
              <a:t>Âge, sexe, pression artérielle, cholestérol, fréquence cardiaque maximale, etc.</a:t>
            </a:r>
          </a:p>
          <a:p>
            <a:endParaRPr lang="fr-FR" sz="2000" b="1" dirty="0" smtClean="0"/>
          </a:p>
          <a:p>
            <a:r>
              <a:rPr lang="fr-FR" sz="2000" b="1" dirty="0" smtClean="0"/>
              <a:t>Cible</a:t>
            </a:r>
            <a:r>
              <a:rPr lang="fr-FR" sz="2000" b="1" dirty="0"/>
              <a:t>:</a:t>
            </a:r>
            <a:r>
              <a:rPr lang="fr-FR" sz="2000" dirty="0"/>
              <a:t> Présence ou absence de maladie cardiaque (0 = sain, 1 = malade)</a:t>
            </a:r>
          </a:p>
          <a:p>
            <a:pPr marL="139700" indent="0">
              <a:buNone/>
            </a:pPr>
            <a:endParaRPr lang="fr-FR" sz="2800" dirty="0"/>
          </a:p>
          <a:p>
            <a:endParaRPr lang="fr-FR" sz="3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38665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50"/>
          <p:cNvSpPr txBox="1">
            <a:spLocks noGrp="1"/>
          </p:cNvSpPr>
          <p:nvPr>
            <p:ph type="title"/>
          </p:nvPr>
        </p:nvSpPr>
        <p:spPr>
          <a:xfrm>
            <a:off x="791072" y="17035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400" dirty="0" smtClean="0"/>
              <a:t>Prétraitement </a:t>
            </a:r>
            <a:r>
              <a:rPr lang="fr-FR" sz="2400" dirty="0"/>
              <a:t>des Données</a:t>
            </a:r>
          </a:p>
        </p:txBody>
      </p:sp>
      <p:sp>
        <p:nvSpPr>
          <p:cNvPr id="1048" name="Google Shape;1048;p50"/>
          <p:cNvSpPr txBox="1">
            <a:spLocks noGrp="1"/>
          </p:cNvSpPr>
          <p:nvPr>
            <p:ph type="body" idx="1"/>
          </p:nvPr>
        </p:nvSpPr>
        <p:spPr>
          <a:xfrm>
            <a:off x="713100" y="743050"/>
            <a:ext cx="7717800" cy="44004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000" b="1" dirty="0"/>
              <a:t>Nettoyage des données</a:t>
            </a:r>
            <a:r>
              <a:rPr lang="fr-FR" sz="2000" dirty="0"/>
              <a:t> : Gestion des valeurs manquantes (remplacement par la médiane).</a:t>
            </a:r>
          </a:p>
          <a:p>
            <a:endParaRPr lang="fr-FR" sz="2000" b="1" dirty="0" smtClean="0"/>
          </a:p>
          <a:p>
            <a:r>
              <a:rPr lang="fr-FR" sz="2000" b="1" dirty="0" smtClean="0"/>
              <a:t>Encodage </a:t>
            </a:r>
            <a:r>
              <a:rPr lang="fr-FR" sz="2000" b="1" dirty="0"/>
              <a:t>des variables catégorielles</a:t>
            </a:r>
            <a:r>
              <a:rPr lang="fr-FR" sz="2000" dirty="0"/>
              <a:t> : One-hot </a:t>
            </a:r>
            <a:r>
              <a:rPr lang="fr-FR" sz="2000" dirty="0" err="1"/>
              <a:t>encoding</a:t>
            </a:r>
            <a:r>
              <a:rPr lang="fr-FR" sz="2000" dirty="0"/>
              <a:t>.</a:t>
            </a:r>
          </a:p>
          <a:p>
            <a:endParaRPr lang="fr-FR" sz="2000" b="1" dirty="0" smtClean="0"/>
          </a:p>
          <a:p>
            <a:r>
              <a:rPr lang="fr-FR" sz="2000" b="1" dirty="0" smtClean="0"/>
              <a:t>Normalisation</a:t>
            </a:r>
            <a:r>
              <a:rPr lang="fr-FR" sz="2000" dirty="0" smtClean="0"/>
              <a:t> </a:t>
            </a:r>
            <a:r>
              <a:rPr lang="fr-FR" sz="2000" dirty="0"/>
              <a:t>: </a:t>
            </a:r>
            <a:r>
              <a:rPr lang="fr-FR" sz="2000" dirty="0" err="1"/>
              <a:t>StandardScaler</a:t>
            </a:r>
            <a:r>
              <a:rPr lang="fr-FR" sz="2000" dirty="0"/>
              <a:t> pour homogénéiser les valeurs des </a:t>
            </a:r>
            <a:r>
              <a:rPr lang="fr-FR" sz="2000" dirty="0" err="1"/>
              <a:t>features</a:t>
            </a:r>
            <a:r>
              <a:rPr lang="fr-FR" sz="2000" dirty="0"/>
              <a:t>.</a:t>
            </a:r>
          </a:p>
          <a:p>
            <a:endParaRPr lang="fr-FR" sz="2000" b="1" dirty="0" smtClean="0"/>
          </a:p>
          <a:p>
            <a:r>
              <a:rPr lang="fr-FR" sz="2000" b="1" dirty="0" smtClean="0"/>
              <a:t>Division </a:t>
            </a:r>
            <a:r>
              <a:rPr lang="fr-FR" sz="2000" b="1" dirty="0"/>
              <a:t>des données</a:t>
            </a:r>
            <a:r>
              <a:rPr lang="fr-FR" sz="2000" dirty="0"/>
              <a:t> :</a:t>
            </a:r>
          </a:p>
          <a:p>
            <a:pPr lvl="1"/>
            <a:r>
              <a:rPr lang="fr-FR" sz="2000" dirty="0"/>
              <a:t>70% entraînement</a:t>
            </a:r>
          </a:p>
          <a:p>
            <a:pPr lvl="1"/>
            <a:r>
              <a:rPr lang="fr-FR" sz="2000" dirty="0"/>
              <a:t>20% validation</a:t>
            </a:r>
          </a:p>
          <a:p>
            <a:pPr lvl="1"/>
            <a:r>
              <a:rPr lang="fr-FR" sz="2000" dirty="0"/>
              <a:t>10% test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endParaRPr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50"/>
          <p:cNvSpPr txBox="1">
            <a:spLocks noGrp="1"/>
          </p:cNvSpPr>
          <p:nvPr>
            <p:ph type="title"/>
          </p:nvPr>
        </p:nvSpPr>
        <p:spPr>
          <a:xfrm>
            <a:off x="713100" y="368825"/>
            <a:ext cx="7717800" cy="7653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400" dirty="0"/>
              <a:t>Architecture du Modèle</a:t>
            </a:r>
          </a:p>
        </p:txBody>
      </p:sp>
      <p:sp>
        <p:nvSpPr>
          <p:cNvPr id="1048" name="Google Shape;1048;p50"/>
          <p:cNvSpPr txBox="1">
            <a:spLocks noGrp="1"/>
          </p:cNvSpPr>
          <p:nvPr>
            <p:ph type="body" idx="1"/>
          </p:nvPr>
        </p:nvSpPr>
        <p:spPr>
          <a:xfrm>
            <a:off x="713100" y="1301331"/>
            <a:ext cx="7717800" cy="32210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000" b="1" dirty="0"/>
              <a:t>Modèle ANN composé de :</a:t>
            </a:r>
            <a:endParaRPr lang="fr-FR" sz="2000" dirty="0"/>
          </a:p>
          <a:p>
            <a:pPr lvl="1"/>
            <a:r>
              <a:rPr lang="fr-FR" sz="2000" dirty="0"/>
              <a:t>1 couche d’entrée (13 </a:t>
            </a:r>
            <a:r>
              <a:rPr lang="fr-FR" sz="2000" dirty="0" err="1"/>
              <a:t>features</a:t>
            </a:r>
            <a:r>
              <a:rPr lang="fr-FR" sz="2000" dirty="0"/>
              <a:t>)</a:t>
            </a:r>
          </a:p>
          <a:p>
            <a:pPr lvl="1"/>
            <a:r>
              <a:rPr lang="fr-FR" sz="2000" dirty="0"/>
              <a:t>3 couches cachées (64, 32, 16 neurones avec </a:t>
            </a:r>
            <a:r>
              <a:rPr lang="fr-FR" sz="2000" dirty="0" err="1"/>
              <a:t>ReLU</a:t>
            </a:r>
            <a:r>
              <a:rPr lang="fr-FR" sz="2000" dirty="0"/>
              <a:t>, </a:t>
            </a:r>
            <a:r>
              <a:rPr lang="fr-FR" sz="2000" dirty="0" err="1"/>
              <a:t>BatchNorm</a:t>
            </a:r>
            <a:r>
              <a:rPr lang="fr-FR" sz="2000" dirty="0"/>
              <a:t>, Dropout)</a:t>
            </a:r>
          </a:p>
          <a:p>
            <a:pPr lvl="1"/>
            <a:r>
              <a:rPr lang="fr-FR" sz="2000" dirty="0"/>
              <a:t>1 couche de sortie (1 neurone, activation </a:t>
            </a:r>
            <a:r>
              <a:rPr lang="fr-FR" sz="2000" dirty="0" err="1"/>
              <a:t>Sigmoid</a:t>
            </a:r>
            <a:r>
              <a:rPr lang="fr-FR" sz="2000" dirty="0"/>
              <a:t>)</a:t>
            </a:r>
          </a:p>
          <a:p>
            <a:endParaRPr lang="fr-FR" sz="2000" b="1" dirty="0" smtClean="0"/>
          </a:p>
          <a:p>
            <a:r>
              <a:rPr lang="fr-FR" sz="2000" b="1" dirty="0" smtClean="0"/>
              <a:t>Optimiseur</a:t>
            </a:r>
            <a:r>
              <a:rPr lang="fr-FR" sz="2000" b="1" dirty="0"/>
              <a:t>:</a:t>
            </a:r>
            <a:r>
              <a:rPr lang="fr-FR" sz="2000" dirty="0"/>
              <a:t> Adam avec </a:t>
            </a:r>
            <a:r>
              <a:rPr lang="fr-FR" sz="2000" dirty="0" err="1"/>
              <a:t>learning</a:t>
            </a:r>
            <a:r>
              <a:rPr lang="fr-FR" sz="2000" dirty="0"/>
              <a:t> rate de 0.001</a:t>
            </a:r>
          </a:p>
          <a:p>
            <a:endParaRPr lang="fr-FR" sz="2000" b="1" dirty="0" smtClean="0"/>
          </a:p>
          <a:p>
            <a:r>
              <a:rPr lang="fr-FR" sz="2000" b="1" dirty="0" smtClean="0"/>
              <a:t>Fonction </a:t>
            </a:r>
            <a:r>
              <a:rPr lang="fr-FR" sz="2000" b="1" dirty="0"/>
              <a:t>de perte:</a:t>
            </a:r>
            <a:r>
              <a:rPr lang="fr-FR" sz="2000" dirty="0"/>
              <a:t> </a:t>
            </a:r>
            <a:r>
              <a:rPr lang="fr-FR" sz="2000" dirty="0" err="1"/>
              <a:t>Binary</a:t>
            </a:r>
            <a:r>
              <a:rPr lang="fr-FR" sz="2000" dirty="0"/>
              <a:t> </a:t>
            </a:r>
            <a:r>
              <a:rPr lang="fr-FR" sz="2000" dirty="0" err="1"/>
              <a:t>Crossentropy</a:t>
            </a:r>
            <a:endParaRPr lang="fr-FR" sz="2000" dirty="0"/>
          </a:p>
          <a:p>
            <a:pPr marL="139700" indent="0">
              <a:buNone/>
            </a:pPr>
            <a:endParaRPr lang="fr-FR" sz="190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endParaRPr dirty="0" smtClean="0"/>
          </a:p>
        </p:txBody>
      </p:sp>
    </p:spTree>
    <p:extLst>
      <p:ext uri="{BB962C8B-B14F-4D97-AF65-F5344CB8AC3E}">
        <p14:creationId xmlns:p14="http://schemas.microsoft.com/office/powerpoint/2010/main" val="1335551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50"/>
          <p:cNvSpPr txBox="1">
            <a:spLocks noGrp="1"/>
          </p:cNvSpPr>
          <p:nvPr>
            <p:ph type="title"/>
          </p:nvPr>
        </p:nvSpPr>
        <p:spPr>
          <a:xfrm>
            <a:off x="713100" y="255413"/>
            <a:ext cx="7717800" cy="5951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400" dirty="0"/>
              <a:t>Entraînement et Optimisation</a:t>
            </a:r>
          </a:p>
        </p:txBody>
      </p:sp>
      <p:sp>
        <p:nvSpPr>
          <p:cNvPr id="1048" name="Google Shape;1048;p50"/>
          <p:cNvSpPr txBox="1">
            <a:spLocks noGrp="1"/>
          </p:cNvSpPr>
          <p:nvPr>
            <p:ph type="body" idx="1"/>
          </p:nvPr>
        </p:nvSpPr>
        <p:spPr>
          <a:xfrm>
            <a:off x="713100" y="850605"/>
            <a:ext cx="7717800" cy="33031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400" b="1" dirty="0" err="1"/>
              <a:t>Early</a:t>
            </a:r>
            <a:r>
              <a:rPr lang="fr-FR" sz="2400" b="1" dirty="0"/>
              <a:t> </a:t>
            </a:r>
            <a:r>
              <a:rPr lang="fr-FR" sz="2400" b="1" dirty="0" err="1"/>
              <a:t>Stopping</a:t>
            </a:r>
            <a:r>
              <a:rPr lang="fr-FR" sz="2400" dirty="0"/>
              <a:t> : Arrêt automatique en cas de stagnation de la validation </a:t>
            </a:r>
            <a:r>
              <a:rPr lang="fr-FR" sz="2400" dirty="0" err="1"/>
              <a:t>loss</a:t>
            </a:r>
            <a:r>
              <a:rPr lang="fr-FR" sz="2400" dirty="0"/>
              <a:t>.</a:t>
            </a:r>
          </a:p>
          <a:p>
            <a:endParaRPr lang="fr-FR" sz="2400" b="1" dirty="0" smtClean="0"/>
          </a:p>
          <a:p>
            <a:r>
              <a:rPr lang="fr-FR" sz="2400" b="1" dirty="0" err="1" smtClean="0"/>
              <a:t>ReduceLROnPlateau</a:t>
            </a:r>
            <a:r>
              <a:rPr lang="fr-FR" sz="2400" dirty="0" smtClean="0"/>
              <a:t> </a:t>
            </a:r>
            <a:r>
              <a:rPr lang="fr-FR" sz="2400" dirty="0"/>
              <a:t>: Réduction du </a:t>
            </a:r>
            <a:r>
              <a:rPr lang="fr-FR" sz="2400" dirty="0" err="1"/>
              <a:t>learning</a:t>
            </a:r>
            <a:r>
              <a:rPr lang="fr-FR" sz="2400" dirty="0"/>
              <a:t> rate en cas de non amélioration.</a:t>
            </a:r>
          </a:p>
          <a:p>
            <a:endParaRPr lang="fr-FR" sz="2400" b="1" dirty="0" smtClean="0"/>
          </a:p>
          <a:p>
            <a:r>
              <a:rPr lang="fr-FR" sz="2400" b="1" dirty="0" smtClean="0"/>
              <a:t>Régularisation </a:t>
            </a:r>
            <a:r>
              <a:rPr lang="fr-FR" sz="2400" b="1" dirty="0"/>
              <a:t>L2</a:t>
            </a:r>
            <a:r>
              <a:rPr lang="fr-FR" sz="2400" dirty="0"/>
              <a:t> et </a:t>
            </a:r>
            <a:r>
              <a:rPr lang="fr-FR" sz="2400" b="1" dirty="0"/>
              <a:t>Dropout</a:t>
            </a:r>
            <a:r>
              <a:rPr lang="fr-FR" sz="2400" dirty="0"/>
              <a:t> : Réduction du sur-apprentissage.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endParaRPr dirty="0" smtClean="0"/>
          </a:p>
        </p:txBody>
      </p:sp>
    </p:spTree>
    <p:extLst>
      <p:ext uri="{BB962C8B-B14F-4D97-AF65-F5344CB8AC3E}">
        <p14:creationId xmlns:p14="http://schemas.microsoft.com/office/powerpoint/2010/main" val="3020178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50"/>
          <p:cNvSpPr txBox="1">
            <a:spLocks noGrp="1"/>
          </p:cNvSpPr>
          <p:nvPr>
            <p:ph type="title"/>
          </p:nvPr>
        </p:nvSpPr>
        <p:spPr>
          <a:xfrm>
            <a:off x="713100" y="255413"/>
            <a:ext cx="7717800" cy="5951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400" dirty="0" smtClean="0"/>
              <a:t>Résultats et Évaluation</a:t>
            </a:r>
            <a:br>
              <a:rPr lang="fr-FR" sz="2400" dirty="0" smtClean="0"/>
            </a:br>
            <a:r>
              <a:rPr lang="fr-FR" sz="2400" dirty="0" smtClean="0"/>
              <a:t/>
            </a:r>
            <a:br>
              <a:rPr lang="fr-FR" sz="2400" dirty="0" smtClean="0"/>
            </a:br>
            <a:r>
              <a:rPr lang="fr-FR" sz="2400" dirty="0" smtClean="0"/>
              <a:t/>
            </a:r>
            <a:br>
              <a:rPr lang="fr-FR" sz="2400" dirty="0" smtClean="0"/>
            </a:br>
            <a:endParaRPr lang="fr-FR" sz="24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2" y="2048540"/>
            <a:ext cx="4756298" cy="2977116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713099" y="992373"/>
            <a:ext cx="38021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Visualisation des résultats</a:t>
            </a:r>
            <a:r>
              <a:rPr lang="fr-FR" dirty="0"/>
              <a:t> :</a:t>
            </a:r>
          </a:p>
          <a:p>
            <a:pPr lvl="1"/>
            <a:r>
              <a:rPr lang="fr-FR" dirty="0"/>
              <a:t>Courbes de perte et d’</a:t>
            </a:r>
            <a:r>
              <a:rPr lang="fr-FR" dirty="0" err="1"/>
              <a:t>accuracy</a:t>
            </a:r>
            <a:endParaRPr lang="fr-FR" dirty="0"/>
          </a:p>
          <a:p>
            <a:pPr lvl="1"/>
            <a:r>
              <a:rPr lang="fr-FR" dirty="0"/>
              <a:t>Matrice de confusion </a:t>
            </a:r>
            <a:r>
              <a:rPr lang="fr-FR" dirty="0" smtClean="0"/>
              <a:t>normalisée</a:t>
            </a:r>
            <a:endParaRPr lang="fr-FR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3504" y="1088337"/>
            <a:ext cx="3474721" cy="96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884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50"/>
          <p:cNvSpPr txBox="1">
            <a:spLocks noGrp="1"/>
          </p:cNvSpPr>
          <p:nvPr>
            <p:ph type="title"/>
          </p:nvPr>
        </p:nvSpPr>
        <p:spPr>
          <a:xfrm>
            <a:off x="713100" y="255413"/>
            <a:ext cx="7717800" cy="5951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400" dirty="0"/>
              <a:t>Résultats et </a:t>
            </a:r>
            <a:r>
              <a:rPr lang="fr-FR" sz="2400" dirty="0" smtClean="0"/>
              <a:t>Évaluation</a:t>
            </a:r>
            <a:r>
              <a:rPr lang="fr-FR" sz="2400" dirty="0"/>
              <a:t/>
            </a:r>
            <a:br>
              <a:rPr lang="fr-FR" sz="2400" dirty="0"/>
            </a:br>
            <a:endParaRPr lang="fr-FR" sz="2400" dirty="0"/>
          </a:p>
        </p:txBody>
      </p:sp>
      <p:sp>
        <p:nvSpPr>
          <p:cNvPr id="1048" name="Google Shape;1048;p50"/>
          <p:cNvSpPr txBox="1">
            <a:spLocks noGrp="1"/>
          </p:cNvSpPr>
          <p:nvPr>
            <p:ph type="body" idx="1"/>
          </p:nvPr>
        </p:nvSpPr>
        <p:spPr>
          <a:xfrm>
            <a:off x="713100" y="857694"/>
            <a:ext cx="8274956" cy="42246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b="1" dirty="0"/>
              <a:t>Métriques de performance sur le test set</a:t>
            </a:r>
            <a:r>
              <a:rPr lang="fr-FR" dirty="0"/>
              <a:t> :</a:t>
            </a:r>
          </a:p>
          <a:p>
            <a:pPr lvl="1"/>
            <a:r>
              <a:rPr lang="fr-FR" dirty="0" err="1"/>
              <a:t>Accuracy</a:t>
            </a:r>
            <a:r>
              <a:rPr lang="fr-FR" dirty="0"/>
              <a:t>: </a:t>
            </a:r>
            <a:r>
              <a:rPr lang="fr-FR" dirty="0" smtClean="0"/>
              <a:t>77%</a:t>
            </a:r>
            <a:endParaRPr lang="fr-FR" dirty="0"/>
          </a:p>
          <a:p>
            <a:pPr lvl="1"/>
            <a:r>
              <a:rPr lang="fr-FR" dirty="0" err="1"/>
              <a:t>Precision</a:t>
            </a:r>
            <a:r>
              <a:rPr lang="fr-FR" dirty="0"/>
              <a:t>: </a:t>
            </a:r>
            <a:r>
              <a:rPr lang="fr-FR" dirty="0" smtClean="0"/>
              <a:t>66%</a:t>
            </a:r>
            <a:endParaRPr lang="fr-FR" dirty="0"/>
          </a:p>
          <a:p>
            <a:pPr lvl="1"/>
            <a:r>
              <a:rPr lang="fr-FR" dirty="0" err="1"/>
              <a:t>Recall</a:t>
            </a:r>
            <a:r>
              <a:rPr lang="fr-FR" dirty="0"/>
              <a:t>: 83%</a:t>
            </a:r>
          </a:p>
          <a:p>
            <a:pPr lvl="1"/>
            <a:r>
              <a:rPr lang="fr-FR" dirty="0"/>
              <a:t>F1-score: </a:t>
            </a:r>
            <a:r>
              <a:rPr lang="fr-FR" dirty="0" smtClean="0"/>
              <a:t>74%</a:t>
            </a:r>
          </a:p>
          <a:p>
            <a:pPr marL="596900" lvl="1" indent="0">
              <a:buNone/>
            </a:pPr>
            <a:endParaRPr lang="fr-FR" dirty="0" smtClean="0"/>
          </a:p>
          <a:p>
            <a:pPr marL="596900" lvl="1" indent="0">
              <a:buNone/>
            </a:pPr>
            <a:endParaRPr lang="fr-FR" dirty="0"/>
          </a:p>
          <a:p>
            <a:r>
              <a:rPr lang="fr-FR" b="1" dirty="0"/>
              <a:t>Visualisation des résultats</a:t>
            </a:r>
            <a:r>
              <a:rPr lang="fr-FR" dirty="0"/>
              <a:t> :</a:t>
            </a:r>
          </a:p>
          <a:p>
            <a:pPr lvl="1"/>
            <a:r>
              <a:rPr lang="fr-FR" dirty="0" smtClean="0"/>
              <a:t>Courbe </a:t>
            </a:r>
            <a:r>
              <a:rPr lang="fr-FR" dirty="0"/>
              <a:t>ROC avec AUC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endParaRPr dirty="0" smtClean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08" y="2970028"/>
            <a:ext cx="3830128" cy="2024666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062" y="1197783"/>
            <a:ext cx="4690258" cy="354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646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50"/>
          <p:cNvSpPr txBox="1">
            <a:spLocks noGrp="1"/>
          </p:cNvSpPr>
          <p:nvPr>
            <p:ph type="title"/>
          </p:nvPr>
        </p:nvSpPr>
        <p:spPr>
          <a:xfrm>
            <a:off x="713100" y="368825"/>
            <a:ext cx="7717800" cy="6093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Conclusion et Améliorations Futures</a:t>
            </a:r>
            <a:br>
              <a:rPr lang="fr-FR" dirty="0"/>
            </a:br>
            <a:endParaRPr dirty="0"/>
          </a:p>
        </p:txBody>
      </p:sp>
      <p:sp>
        <p:nvSpPr>
          <p:cNvPr id="1048" name="Google Shape;1048;p50"/>
          <p:cNvSpPr txBox="1">
            <a:spLocks noGrp="1"/>
          </p:cNvSpPr>
          <p:nvPr>
            <p:ph type="body" idx="1"/>
          </p:nvPr>
        </p:nvSpPr>
        <p:spPr>
          <a:xfrm>
            <a:off x="713100" y="1127052"/>
            <a:ext cx="7717800" cy="31188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800" b="1" dirty="0"/>
              <a:t>Points forts du projet :</a:t>
            </a:r>
            <a:endParaRPr lang="fr-FR" sz="1800" dirty="0"/>
          </a:p>
          <a:p>
            <a:pPr lvl="1"/>
            <a:r>
              <a:rPr lang="fr-FR" sz="1800" dirty="0"/>
              <a:t>Bonne capacité de généralisation du modèle.</a:t>
            </a:r>
          </a:p>
          <a:p>
            <a:pPr lvl="1"/>
            <a:r>
              <a:rPr lang="fr-FR" sz="1800" dirty="0"/>
              <a:t>Approche robuste pour gérer l’</a:t>
            </a:r>
            <a:r>
              <a:rPr lang="fr-FR" sz="1800" dirty="0" err="1"/>
              <a:t>overfitting</a:t>
            </a:r>
            <a:r>
              <a:rPr lang="fr-FR" sz="1800" dirty="0"/>
              <a:t>.</a:t>
            </a:r>
          </a:p>
          <a:p>
            <a:endParaRPr lang="fr-FR" sz="1800" b="1" dirty="0" smtClean="0"/>
          </a:p>
          <a:p>
            <a:r>
              <a:rPr lang="fr-FR" sz="1800" b="1" dirty="0" smtClean="0"/>
              <a:t>Améliorations </a:t>
            </a:r>
            <a:r>
              <a:rPr lang="fr-FR" sz="1800" b="1" dirty="0"/>
              <a:t>possibles :</a:t>
            </a:r>
            <a:endParaRPr lang="fr-FR" sz="1800" dirty="0"/>
          </a:p>
          <a:p>
            <a:pPr lvl="1"/>
            <a:r>
              <a:rPr lang="fr-FR" sz="1800" dirty="0"/>
              <a:t>Expérimentation avec d’autres architectures plus profondes.</a:t>
            </a:r>
          </a:p>
          <a:p>
            <a:pPr lvl="1"/>
            <a:r>
              <a:rPr lang="fr-FR" sz="1800" dirty="0"/>
              <a:t>Exploration d’optimiseurs et de </a:t>
            </a:r>
            <a:r>
              <a:rPr lang="fr-FR" sz="1800" dirty="0" err="1"/>
              <a:t>learning</a:t>
            </a:r>
            <a:r>
              <a:rPr lang="fr-FR" sz="1800" dirty="0"/>
              <a:t> rates différents.</a:t>
            </a:r>
          </a:p>
          <a:p>
            <a:pPr lvl="1"/>
            <a:r>
              <a:rPr lang="fr-FR" sz="1800" dirty="0"/>
              <a:t>Augmentation de la taille du </a:t>
            </a:r>
            <a:r>
              <a:rPr lang="fr-FR" sz="1800" dirty="0" err="1"/>
              <a:t>dataset</a:t>
            </a:r>
            <a:r>
              <a:rPr lang="fr-FR" sz="1800" dirty="0"/>
              <a:t> avec des données externes.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endParaRPr dirty="0" smtClean="0"/>
          </a:p>
        </p:txBody>
      </p:sp>
    </p:spTree>
    <p:extLst>
      <p:ext uri="{BB962C8B-B14F-4D97-AF65-F5344CB8AC3E}">
        <p14:creationId xmlns:p14="http://schemas.microsoft.com/office/powerpoint/2010/main" val="32479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50"/>
          <p:cNvSpPr txBox="1">
            <a:spLocks noGrp="1"/>
          </p:cNvSpPr>
          <p:nvPr>
            <p:ph type="title"/>
          </p:nvPr>
        </p:nvSpPr>
        <p:spPr>
          <a:xfrm>
            <a:off x="1765004" y="1651592"/>
            <a:ext cx="5096539" cy="14247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fr-FR" sz="4800" dirty="0" smtClean="0"/>
              <a:t>MERCI</a:t>
            </a:r>
            <a:endParaRPr sz="4800" dirty="0"/>
          </a:p>
        </p:txBody>
      </p:sp>
    </p:spTree>
    <p:extLst>
      <p:ext uri="{BB962C8B-B14F-4D97-AF65-F5344CB8AC3E}">
        <p14:creationId xmlns:p14="http://schemas.microsoft.com/office/powerpoint/2010/main" val="76340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dical Technology Advances by Slidesgo">
  <a:themeElements>
    <a:clrScheme name="Simple Light">
      <a:dk1>
        <a:srgbClr val="1F2B6C"/>
      </a:dk1>
      <a:lt1>
        <a:srgbClr val="FFFFFF"/>
      </a:lt1>
      <a:dk2>
        <a:srgbClr val="000000"/>
      </a:dk2>
      <a:lt2>
        <a:srgbClr val="EEEEEE"/>
      </a:lt2>
      <a:accent1>
        <a:srgbClr val="E7F7FF"/>
      </a:accent1>
      <a:accent2>
        <a:srgbClr val="159FED"/>
      </a:accent2>
      <a:accent3>
        <a:srgbClr val="73E1CD"/>
      </a:accent3>
      <a:accent4>
        <a:srgbClr val="8292E8"/>
      </a:accent4>
      <a:accent5>
        <a:srgbClr val="8292E8"/>
      </a:accent5>
      <a:accent6>
        <a:srgbClr val="1F2B6C"/>
      </a:accent6>
      <a:hlink>
        <a:srgbClr val="1F2B6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3005</TotalTime>
  <Words>361</Words>
  <Application>Microsoft Office PowerPoint</Application>
  <PresentationFormat>Affichage à l'écran (16:9)</PresentationFormat>
  <Paragraphs>70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Montserrat</vt:lpstr>
      <vt:lpstr>Nunito Sans</vt:lpstr>
      <vt:lpstr>Arial</vt:lpstr>
      <vt:lpstr>Medical Technology Advances by Slidesgo</vt:lpstr>
      <vt:lpstr>Prédiction des maladies cardiaques avec un réseau de neurones</vt:lpstr>
      <vt:lpstr>Introduction</vt:lpstr>
      <vt:lpstr>Dataset Utilisé</vt:lpstr>
      <vt:lpstr>Prétraitement des Données</vt:lpstr>
      <vt:lpstr>Architecture du Modèle</vt:lpstr>
      <vt:lpstr>Entraînement et Optimisation</vt:lpstr>
      <vt:lpstr>Résultats et Évaluation   </vt:lpstr>
      <vt:lpstr>Résultats et Évaluation </vt:lpstr>
      <vt:lpstr>Conclusion et Améliorations Futures </vt:lpstr>
      <vt:lpstr>MERCI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Reconnaissance d'images pour la détection de maladies</dc:title>
  <dc:creator>Admin</dc:creator>
  <cp:lastModifiedBy>Admin</cp:lastModifiedBy>
  <cp:revision>32</cp:revision>
  <dcterms:modified xsi:type="dcterms:W3CDTF">2025-02-07T14:39:54Z</dcterms:modified>
</cp:coreProperties>
</file>